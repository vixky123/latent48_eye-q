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9232D"/>
                </a:solidFill>
                <a:latin typeface="Arial"/>
              </a:rPr>
              <a:t>Waste per meal, kg</a:t>
            </a:r>
          </a:p>
        </c:rich>
      </c:tx>
      <c:layout/>
      <c:overlay val="0"/>
    </c:title>
    <c:autoTitleDeleted val="0"/>
    <c:plotArea>
      <c:barChart>
        <c:barDir val="col"/>
        <c:grouping val="stacked"/>
        <c:ser>
          <c:idx val="0"/>
          <c:order val="0"/>
          <c:tx>
            <c:strRef>
              <c:f>Sheet1!$B$1</c:f>
              <c:strCache>
                <c:ptCount val="1"/>
                <c:pt idx="0">
                  <c:v>For absent subscribers</c:v>
                </c:pt>
              </c:strCache>
            </c:strRef>
          </c:tx>
          <c:spPr>
            <a:solidFill>
              <a:srgbClr val="B3402F"/>
            </a:solidFill>
          </c:spPr>
          <c:cat>
            <c:strRef>
              <c:f>Sheet1!$A$2:$A$6</c:f>
              <c:strCache>
                <c:ptCount val="5"/>
                <c:pt idx="0">
                  <c:v>Sat B</c:v>
                </c:pt>
                <c:pt idx="1">
                  <c:v>Sat L</c:v>
                </c:pt>
                <c:pt idx="2">
                  <c:v>Sat D</c:v>
                </c:pt>
                <c:pt idx="3">
                  <c:v>Sun B</c:v>
                </c:pt>
                <c:pt idx="4">
                  <c:v>Sun L</c:v>
                </c:pt>
              </c:strCache>
            </c:strRef>
          </c:cat>
          <c:val>
            <c:numRef>
              <c:f>Sheet1!$B$2:$B$6</c:f>
              <c:numCache>
                <c:formatCode>General</c:formatCode>
                <c:ptCount val="5"/>
                <c:pt idx="0">
                  <c:v>58.3</c:v>
                </c:pt>
                <c:pt idx="1">
                  <c:v>73.8</c:v>
                </c:pt>
                <c:pt idx="2">
                  <c:v>27.8</c:v>
                </c:pt>
                <c:pt idx="3">
                  <c:v>0.0</c:v>
                </c:pt>
                <c:pt idx="4">
                  <c:v>70.6</c:v>
                </c:pt>
              </c:numCache>
            </c:numRef>
          </c:val>
        </c:ser>
        <c:ser>
          <c:idx val="1"/>
          <c:order val="1"/>
          <c:tx>
            <c:strRef>
              <c:f>Sheet1!$C$1</c:f>
              <c:strCache>
                <c:ptCount val="1"/>
                <c:pt idx="0">
                  <c:v>Other overproduction</c:v>
                </c:pt>
              </c:strCache>
            </c:strRef>
          </c:tx>
          <c:spPr>
            <a:solidFill>
              <a:srgbClr val="D99A22"/>
            </a:solidFill>
          </c:spPr>
          <c:cat>
            <c:strRef>
              <c:f>Sheet1!$A$2:$A$6</c:f>
              <c:strCache>
                <c:ptCount val="5"/>
                <c:pt idx="0">
                  <c:v>Sat B</c:v>
                </c:pt>
                <c:pt idx="1">
                  <c:v>Sat L</c:v>
                </c:pt>
                <c:pt idx="2">
                  <c:v>Sat D</c:v>
                </c:pt>
                <c:pt idx="3">
                  <c:v>Sun B</c:v>
                </c:pt>
                <c:pt idx="4">
                  <c:v>Sun L</c:v>
                </c:pt>
              </c:strCache>
            </c:strRef>
          </c:cat>
          <c:val>
            <c:numRef>
              <c:f>Sheet1!$C$2:$C$6</c:f>
              <c:numCache>
                <c:formatCode>General</c:formatCode>
                <c:ptCount val="5"/>
                <c:pt idx="0">
                  <c:v>0.0</c:v>
                </c:pt>
                <c:pt idx="1">
                  <c:v>0.0</c:v>
                </c:pt>
                <c:pt idx="2">
                  <c:v>13.0</c:v>
                </c:pt>
                <c:pt idx="3">
                  <c:v>66.4</c:v>
                </c:pt>
                <c:pt idx="4">
                  <c:v>5.4</c:v>
                </c:pt>
              </c:numCache>
            </c:numRef>
          </c:val>
        </c:ser>
        <c:ser>
          <c:idx val="2"/>
          <c:order val="2"/>
          <c:tx>
            <c:strRef>
              <c:f>Sheet1!$D$1</c:f>
              <c:strCache>
                <c:ptCount val="1"/>
                <c:pt idx="0">
                  <c:v>On plates</c:v>
                </c:pt>
              </c:strCache>
            </c:strRef>
          </c:tx>
          <c:spPr>
            <a:solidFill>
              <a:srgbClr val="6E6259"/>
            </a:solidFill>
          </c:spPr>
          <c:cat>
            <c:strRef>
              <c:f>Sheet1!$A$2:$A$6</c:f>
              <c:strCache>
                <c:ptCount val="5"/>
                <c:pt idx="0">
                  <c:v>Sat B</c:v>
                </c:pt>
                <c:pt idx="1">
                  <c:v>Sat L</c:v>
                </c:pt>
                <c:pt idx="2">
                  <c:v>Sat D</c:v>
                </c:pt>
                <c:pt idx="3">
                  <c:v>Sun B</c:v>
                </c:pt>
                <c:pt idx="4">
                  <c:v>Sun L</c:v>
                </c:pt>
              </c:strCache>
            </c:strRef>
          </c:cat>
          <c:val>
            <c:numRef>
              <c:f>Sheet1!$D$2:$D$6</c:f>
              <c:numCache>
                <c:formatCode>General</c:formatCode>
                <c:ptCount val="5"/>
                <c:pt idx="0">
                  <c:v>12.5</c:v>
                </c:pt>
                <c:pt idx="1">
                  <c:v>31.2</c:v>
                </c:pt>
                <c:pt idx="2">
                  <c:v>0.0</c:v>
                </c:pt>
                <c:pt idx="3">
                  <c:v>17.5</c:v>
                </c:pt>
                <c:pt idx="4">
                  <c:v>17.9</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D5DADE"/>
            </a:solidFill>
          </a:ln>
        </c:spPr>
        <c:txPr>
          <a:bodyPr/>
          <a:lstStyle/>
          <a:p>
            <a:pPr>
              <a:defRPr sz="1100">
                <a:solidFill>
                  <a:srgbClr val="5A6773"/>
                </a:solidFill>
                <a:latin typeface="Arial"/>
              </a:defRPr>
            </a:pPr>
          </a:p>
        </c:txPr>
        <c:crossAx val="-2113994440"/>
        <c:crosses val="autoZero"/>
        <c:auto val="1"/>
        <c:lblAlgn val="ctr"/>
        <c:lblOffset val="100"/>
        <c:noMultiLvlLbl val="0"/>
      </c:catAx>
      <c:valAx>
        <c:axId val="-2113994440"/>
        <c:scaling/>
        <c:delete val="0"/>
        <c:axPos val="l"/>
        <c:majorGridlines>
          <c:spPr>
            <a:ln>
              <a:solidFill>
                <a:srgbClr val="D5DADE"/>
              </a:solidFill>
            </a:ln>
          </c:spPr>
        </c:majorGridlines>
        <c:majorTickMark val="out"/>
        <c:minorTickMark val="none"/>
        <c:tickLblPos val="nextTo"/>
        <c:spPr>
          <a:ln>
            <a:noFill/>
          </a:ln>
        </c:spPr>
        <c:txPr>
          <a:bodyPr/>
          <a:lstStyle/>
          <a:p>
            <a:pPr>
              <a:defRPr sz="1100">
                <a:solidFill>
                  <a:srgbClr val="5A6773"/>
                </a:solidFill>
                <a:latin typeface="Arial"/>
              </a:defRPr>
            </a:pPr>
          </a:p>
        </c:txPr>
        <c:crossAx val="-2068027336"/>
        <c:crosses val="autoZero"/>
      </c:valAx>
    </c:plotArea>
    <c:legend>
      <c:legendPos val="b"/>
      <c:overlay val="0"/>
      <c:txPr>
        <a:bodyPr/>
        <a:lstStyle/>
        <a:p>
          <a:pPr>
            <a:defRPr sz="1100">
              <a:solidFill>
                <a:srgbClr val="5A6773"/>
              </a:solidFill>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Dihing Hostel mess manager decides quantities for about 398 subscribers at every meal. Over 5 meals we counted everyone who came in: about 252 per meal. Measured against what was actually eaten, the kitchen cooked enough for about 340 people. Nobody had these three numbers side by side before. Our question: how much of the waste is cooking for people who don't show up, and can we tell the kitchen a better number the night before?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install anything. We counted people at the door every 15 minutes, weighed the vessels and the scraping bin, and put a phone over the return counter. Frames with a person in them are deleted before they're stored. A vision model reads how much of each dish is left on every plate; we hand-labelled a sample to check it. Every night we sealed a forecast for the next day's meals and posted the hash before the meal, so nobody can say we fitted it afterwards.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5 meals the mess threw away 394 kilograms, about Rs 29,298. 58 percent of it was food cooked for subscribers who never came. Our sealed forecasts missed by 17 diners on average; cooking for the full list misses by 98. What changes: the manager cooks to our number the night before, and takes the most-returned dish to the menu meeting. The limit: this is a short window in one mess, and the per-dish plate split comes from photos, not a scale.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232D"/>
        </a:solidFill>
        <a:effectLst/>
      </p:bgPr>
    </p:bg>
    <p:spTree>
      <p:nvGrpSpPr>
        <p:cNvPr id="1" name=""/>
        <p:cNvGrpSpPr/>
        <p:nvPr/>
      </p:nvGrpSpPr>
      <p:grpSpPr/>
      <p:sp>
        <p:nvSpPr>
          <p:cNvPr id="2" name="TextBox 1"/>
          <p:cNvSpPr txBox="1"/>
          <p:nvPr/>
        </p:nvSpPr>
        <p:spPr>
          <a:xfrm>
            <a:off x="548640" y="411480"/>
            <a:ext cx="8229600" cy="365760"/>
          </a:xfrm>
          <a:prstGeom prst="rect">
            <a:avLst/>
          </a:prstGeom>
          <a:noFill/>
        </p:spPr>
        <p:txBody>
          <a:bodyPr wrap="square" lIns="0" rIns="0" tIns="0" bIns="0" anchor="t">
            <a:spAutoFit/>
          </a:bodyPr>
          <a:lstStyle/>
          <a:p>
            <a:pPr algn="l"/>
            <a:r>
              <a:rPr sz="1300" b="0" i="0">
                <a:solidFill>
                  <a:srgbClr val="AEB8C1"/>
                </a:solidFill>
                <a:latin typeface="Arial"/>
              </a:rPr>
              <a:t>Mess waste pilot  |  Dihing Hostel Mess</a:t>
            </a:r>
          </a:p>
        </p:txBody>
      </p:sp>
      <p:sp>
        <p:nvSpPr>
          <p:cNvPr id="3" name="Rounded Rectangle 2"/>
          <p:cNvSpPr/>
          <p:nvPr/>
        </p:nvSpPr>
        <p:spPr>
          <a:xfrm>
            <a:off x="8991295" y="320040"/>
            <a:ext cx="2743200" cy="347472"/>
          </a:xfrm>
          <a:prstGeom prst="roundRect">
            <a:avLst>
              <a:gd name="adj" fmla="val 30000"/>
            </a:avLst>
          </a:prstGeom>
          <a:solidFill>
            <a:srgbClr val="B3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91295" y="320040"/>
            <a:ext cx="2743200" cy="347472"/>
          </a:xfrm>
          <a:prstGeom prst="rect">
            <a:avLst/>
          </a:prstGeom>
          <a:noFill/>
        </p:spPr>
        <p:txBody>
          <a:bodyPr wrap="square" lIns="0" rIns="0" tIns="0" bIns="0" anchor="ctr">
            <a:spAutoFit/>
          </a:bodyPr>
          <a:lstStyle/>
          <a:p>
            <a:pPr algn="ctr"/>
            <a:r>
              <a:rPr sz="1200" b="1" i="0">
                <a:solidFill>
                  <a:srgbClr val="FFFFFF"/>
                </a:solidFill>
                <a:latin typeface="Arial"/>
              </a:rPr>
              <a:t>Real photos · modelled figures</a:t>
            </a:r>
          </a:p>
        </p:txBody>
      </p:sp>
      <p:sp>
        <p:nvSpPr>
          <p:cNvPr id="5" name="TextBox 4"/>
          <p:cNvSpPr txBox="1"/>
          <p:nvPr/>
        </p:nvSpPr>
        <p:spPr>
          <a:xfrm>
            <a:off x="548640" y="914400"/>
            <a:ext cx="10515600" cy="1463040"/>
          </a:xfrm>
          <a:prstGeom prst="rect">
            <a:avLst/>
          </a:prstGeom>
          <a:noFill/>
        </p:spPr>
        <p:txBody>
          <a:bodyPr wrap="square" lIns="0" rIns="0" tIns="0" bIns="0" anchor="t">
            <a:spAutoFit/>
          </a:bodyPr>
          <a:lstStyle/>
          <a:p>
            <a:pPr algn="l"/>
            <a:r>
              <a:rPr sz="4000" b="1" i="0">
                <a:solidFill>
                  <a:srgbClr val="FFFFFF"/>
                </a:solidFill>
                <a:latin typeface="Arial"/>
              </a:rPr>
              <a:t>The mess cooks for 340.</a:t>
            </a:r>
          </a:p>
          <a:p>
            <a:pPr algn="l"/>
            <a:r>
              <a:rPr sz="4000" b="1" i="0">
                <a:solidFill>
                  <a:srgbClr val="FFFFFF"/>
                </a:solidFill>
                <a:latin typeface="Arial"/>
              </a:rPr>
              <a:t>About 252 come to eat.</a:t>
            </a:r>
          </a:p>
        </p:txBody>
      </p:sp>
      <p:sp>
        <p:nvSpPr>
          <p:cNvPr id="6" name="Oval 5"/>
          <p:cNvSpPr/>
          <p:nvPr/>
        </p:nvSpPr>
        <p:spPr>
          <a:xfrm>
            <a:off x="548640" y="2679192"/>
            <a:ext cx="182880" cy="182880"/>
          </a:xfrm>
          <a:prstGeom prst="ellipse">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606040"/>
            <a:ext cx="2560320" cy="329184"/>
          </a:xfrm>
          <a:prstGeom prst="rect">
            <a:avLst/>
          </a:prstGeom>
          <a:noFill/>
        </p:spPr>
        <p:txBody>
          <a:bodyPr wrap="square" lIns="0" rIns="0" tIns="0" bIns="0" anchor="ctr">
            <a:spAutoFit/>
          </a:bodyPr>
          <a:lstStyle/>
          <a:p>
            <a:pPr algn="l"/>
            <a:r>
              <a:rPr sz="1500" b="0" i="0">
                <a:solidFill>
                  <a:srgbClr val="AEB8C1"/>
                </a:solidFill>
                <a:latin typeface="Arial"/>
              </a:rPr>
              <a:t>Subscribed</a:t>
            </a:r>
          </a:p>
        </p:txBody>
      </p:sp>
      <p:sp>
        <p:nvSpPr>
          <p:cNvPr id="8" name="TextBox 7"/>
          <p:cNvSpPr txBox="1"/>
          <p:nvPr/>
        </p:nvSpPr>
        <p:spPr>
          <a:xfrm>
            <a:off x="548640" y="3017520"/>
            <a:ext cx="2834640" cy="914400"/>
          </a:xfrm>
          <a:prstGeom prst="rect">
            <a:avLst/>
          </a:prstGeom>
          <a:noFill/>
        </p:spPr>
        <p:txBody>
          <a:bodyPr wrap="square" lIns="0" rIns="0" tIns="0" bIns="0" anchor="t">
            <a:spAutoFit/>
          </a:bodyPr>
          <a:lstStyle/>
          <a:p>
            <a:pPr algn="l"/>
            <a:r>
              <a:rPr sz="6000" b="1" i="0">
                <a:solidFill>
                  <a:srgbClr val="FFFFFF"/>
                </a:solidFill>
                <a:latin typeface="Arial"/>
              </a:rPr>
              <a:t>398</a:t>
            </a:r>
          </a:p>
        </p:txBody>
      </p:sp>
      <p:sp>
        <p:nvSpPr>
          <p:cNvPr id="9" name="Oval 8"/>
          <p:cNvSpPr/>
          <p:nvPr/>
        </p:nvSpPr>
        <p:spPr>
          <a:xfrm>
            <a:off x="3611880" y="2679192"/>
            <a:ext cx="182880" cy="182880"/>
          </a:xfrm>
          <a:prstGeom prst="ellipse">
            <a:avLst/>
          </a:prstGeom>
          <a:solidFill>
            <a:srgbClr val="D99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2606040"/>
            <a:ext cx="2560320" cy="329184"/>
          </a:xfrm>
          <a:prstGeom prst="rect">
            <a:avLst/>
          </a:prstGeom>
          <a:noFill/>
        </p:spPr>
        <p:txBody>
          <a:bodyPr wrap="square" lIns="0" rIns="0" tIns="0" bIns="0" anchor="ctr">
            <a:spAutoFit/>
          </a:bodyPr>
          <a:lstStyle/>
          <a:p>
            <a:pPr algn="l"/>
            <a:r>
              <a:rPr sz="1500" b="0" i="0">
                <a:solidFill>
                  <a:srgbClr val="AEB8C1"/>
                </a:solidFill>
                <a:latin typeface="Arial"/>
              </a:rPr>
              <a:t>Kitchen cooks for</a:t>
            </a:r>
          </a:p>
        </p:txBody>
      </p:sp>
      <p:sp>
        <p:nvSpPr>
          <p:cNvPr id="11" name="TextBox 10"/>
          <p:cNvSpPr txBox="1"/>
          <p:nvPr/>
        </p:nvSpPr>
        <p:spPr>
          <a:xfrm>
            <a:off x="3611880" y="3017520"/>
            <a:ext cx="2834640" cy="914400"/>
          </a:xfrm>
          <a:prstGeom prst="rect">
            <a:avLst/>
          </a:prstGeom>
          <a:noFill/>
        </p:spPr>
        <p:txBody>
          <a:bodyPr wrap="square" lIns="0" rIns="0" tIns="0" bIns="0" anchor="t">
            <a:spAutoFit/>
          </a:bodyPr>
          <a:lstStyle/>
          <a:p>
            <a:pPr algn="l"/>
            <a:r>
              <a:rPr sz="6000" b="1" i="0">
                <a:solidFill>
                  <a:srgbClr val="FFFFFF"/>
                </a:solidFill>
                <a:latin typeface="Arial"/>
              </a:rPr>
              <a:t>340</a:t>
            </a:r>
          </a:p>
        </p:txBody>
      </p:sp>
      <p:sp>
        <p:nvSpPr>
          <p:cNvPr id="12" name="Oval 11"/>
          <p:cNvSpPr/>
          <p:nvPr/>
        </p:nvSpPr>
        <p:spPr>
          <a:xfrm>
            <a:off x="6675120" y="2679192"/>
            <a:ext cx="182880" cy="182880"/>
          </a:xfrm>
          <a:prstGeom prst="ellipse">
            <a:avLst/>
          </a:prstGeom>
          <a:solidFill>
            <a:srgbClr val="6F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59" y="2606040"/>
            <a:ext cx="2560320" cy="329184"/>
          </a:xfrm>
          <a:prstGeom prst="rect">
            <a:avLst/>
          </a:prstGeom>
          <a:noFill/>
        </p:spPr>
        <p:txBody>
          <a:bodyPr wrap="square" lIns="0" rIns="0" tIns="0" bIns="0" anchor="ctr">
            <a:spAutoFit/>
          </a:bodyPr>
          <a:lstStyle/>
          <a:p>
            <a:pPr algn="l"/>
            <a:r>
              <a:rPr sz="1500" b="0" i="0">
                <a:solidFill>
                  <a:srgbClr val="AEB8C1"/>
                </a:solidFill>
                <a:latin typeface="Arial"/>
              </a:rPr>
              <a:t>Actually came</a:t>
            </a:r>
          </a:p>
        </p:txBody>
      </p:sp>
      <p:sp>
        <p:nvSpPr>
          <p:cNvPr id="14" name="TextBox 13"/>
          <p:cNvSpPr txBox="1"/>
          <p:nvPr/>
        </p:nvSpPr>
        <p:spPr>
          <a:xfrm>
            <a:off x="6675120" y="3017520"/>
            <a:ext cx="2834640" cy="914400"/>
          </a:xfrm>
          <a:prstGeom prst="rect">
            <a:avLst/>
          </a:prstGeom>
          <a:noFill/>
        </p:spPr>
        <p:txBody>
          <a:bodyPr wrap="square" lIns="0" rIns="0" tIns="0" bIns="0" anchor="t">
            <a:spAutoFit/>
          </a:bodyPr>
          <a:lstStyle/>
          <a:p>
            <a:pPr algn="l"/>
            <a:r>
              <a:rPr sz="6000" b="1" i="0">
                <a:solidFill>
                  <a:srgbClr val="FFFFFF"/>
                </a:solidFill>
                <a:latin typeface="Arial"/>
              </a:rPr>
              <a:t>252</a:t>
            </a:r>
          </a:p>
        </p:txBody>
      </p:sp>
      <p:sp>
        <p:nvSpPr>
          <p:cNvPr id="15" name="TextBox 14"/>
          <p:cNvSpPr txBox="1"/>
          <p:nvPr/>
        </p:nvSpPr>
        <p:spPr>
          <a:xfrm>
            <a:off x="548640" y="3977639"/>
            <a:ext cx="8686800" cy="320040"/>
          </a:xfrm>
          <a:prstGeom prst="rect">
            <a:avLst/>
          </a:prstGeom>
          <a:noFill/>
        </p:spPr>
        <p:txBody>
          <a:bodyPr wrap="square" lIns="0" rIns="0" tIns="0" bIns="0" anchor="t">
            <a:spAutoFit/>
          </a:bodyPr>
          <a:lstStyle/>
          <a:p>
            <a:pPr algn="l"/>
            <a:r>
              <a:rPr sz="1200" b="0" i="0">
                <a:solidFill>
                  <a:srgbClr val="AEB8C1"/>
                </a:solidFill>
                <a:latin typeface="Arial"/>
              </a:rPr>
              <a:t>Average per meal over 5 meals we counted. "Cooks for" = diners x cooked / served.</a:t>
            </a:r>
          </a:p>
        </p:txBody>
      </p:sp>
      <p:sp>
        <p:nvSpPr>
          <p:cNvPr id="16" name="Rounded Rectangle 15"/>
          <p:cNvSpPr/>
          <p:nvPr/>
        </p:nvSpPr>
        <p:spPr>
          <a:xfrm>
            <a:off x="548640" y="4709160"/>
            <a:ext cx="4846320" cy="1417320"/>
          </a:xfrm>
          <a:prstGeom prst="roundRect">
            <a:avLst>
              <a:gd name="adj" fmla="val 5000"/>
            </a:avLst>
          </a:prstGeom>
          <a:solidFill>
            <a:srgbClr val="263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19472"/>
            <a:ext cx="4434840" cy="1005840"/>
          </a:xfrm>
          <a:prstGeom prst="rect">
            <a:avLst/>
          </a:prstGeom>
          <a:noFill/>
        </p:spPr>
        <p:txBody>
          <a:bodyPr wrap="square" lIns="0" rIns="0" tIns="0" bIns="0" anchor="t">
            <a:spAutoFit/>
          </a:bodyPr>
          <a:lstStyle/>
          <a:p>
            <a:pPr algn="l">
              <a:spcAft>
                <a:spcPts val="800"/>
              </a:spcAft>
            </a:pPr>
            <a:r>
              <a:rPr sz="1400" b="1" i="0">
                <a:solidFill>
                  <a:srgbClr val="D99A22"/>
                </a:solidFill>
                <a:latin typeface="Arial"/>
              </a:rPr>
              <a:t>The user</a:t>
            </a:r>
          </a:p>
          <a:p>
            <a:pPr algn="l">
              <a:spcAft>
                <a:spcPts val="800"/>
              </a:spcAft>
            </a:pPr>
            <a:r>
              <a:rPr sz="1700" b="0" i="0">
                <a:solidFill>
                  <a:srgbClr val="FFFFFF"/>
                </a:solidFill>
                <a:latin typeface="Arial"/>
              </a:rPr>
              <a:t>The Dihing Hostel mess manager, deciding cook quantities before anyone walks in.</a:t>
            </a:r>
          </a:p>
        </p:txBody>
      </p:sp>
      <p:sp>
        <p:nvSpPr>
          <p:cNvPr id="18" name="Rounded Rectangle 17"/>
          <p:cNvSpPr/>
          <p:nvPr/>
        </p:nvSpPr>
        <p:spPr>
          <a:xfrm>
            <a:off x="5669280" y="4709160"/>
            <a:ext cx="5971032" cy="1417320"/>
          </a:xfrm>
          <a:prstGeom prst="roundRect">
            <a:avLst>
              <a:gd name="adj" fmla="val 5000"/>
            </a:avLst>
          </a:prstGeom>
          <a:solidFill>
            <a:srgbClr val="263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7880" y="4919472"/>
            <a:ext cx="5532120" cy="1005840"/>
          </a:xfrm>
          <a:prstGeom prst="rect">
            <a:avLst/>
          </a:prstGeom>
          <a:noFill/>
        </p:spPr>
        <p:txBody>
          <a:bodyPr wrap="square" lIns="0" rIns="0" tIns="0" bIns="0" anchor="t">
            <a:spAutoFit/>
          </a:bodyPr>
          <a:lstStyle/>
          <a:p>
            <a:pPr algn="l">
              <a:spcAft>
                <a:spcPts val="800"/>
              </a:spcAft>
            </a:pPr>
            <a:r>
              <a:rPr sz="1400" b="1" i="0">
                <a:solidFill>
                  <a:srgbClr val="D99A22"/>
                </a:solidFill>
                <a:latin typeface="Arial"/>
              </a:rPr>
              <a:t>The question</a:t>
            </a:r>
          </a:p>
          <a:p>
            <a:pPr algn="l">
              <a:spcAft>
                <a:spcPts val="800"/>
              </a:spcAft>
            </a:pPr>
            <a:r>
              <a:rPr sz="1700" b="0" i="0">
                <a:solidFill>
                  <a:srgbClr val="FFFFFF"/>
                </a:solidFill>
                <a:latin typeface="Arial"/>
              </a:rPr>
              <a:t>How much of the waste is cooking for people who never come?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4E8EA"/>
        </a:solidFill>
        <a:effectLst/>
      </p:bgPr>
    </p:bg>
    <p:spTree>
      <p:nvGrpSpPr>
        <p:cNvPr id="1" name=""/>
        <p:cNvGrpSpPr/>
        <p:nvPr/>
      </p:nvGrpSpPr>
      <p:grpSpPr/>
      <p:sp>
        <p:nvSpPr>
          <p:cNvPr id="2" name="Rounded Rectangle 1"/>
          <p:cNvSpPr/>
          <p:nvPr/>
        </p:nvSpPr>
        <p:spPr>
          <a:xfrm>
            <a:off x="8991295" y="320040"/>
            <a:ext cx="2743200" cy="347472"/>
          </a:xfrm>
          <a:prstGeom prst="roundRect">
            <a:avLst>
              <a:gd name="adj" fmla="val 30000"/>
            </a:avLst>
          </a:prstGeom>
          <a:solidFill>
            <a:srgbClr val="B3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91295" y="320040"/>
            <a:ext cx="2743200" cy="347472"/>
          </a:xfrm>
          <a:prstGeom prst="rect">
            <a:avLst/>
          </a:prstGeom>
          <a:noFill/>
        </p:spPr>
        <p:txBody>
          <a:bodyPr wrap="square" lIns="0" rIns="0" tIns="0" bIns="0" anchor="ctr">
            <a:spAutoFit/>
          </a:bodyPr>
          <a:lstStyle/>
          <a:p>
            <a:pPr algn="ctr"/>
            <a:r>
              <a:rPr sz="1200" b="1" i="0">
                <a:solidFill>
                  <a:srgbClr val="FFFFFF"/>
                </a:solidFill>
                <a:latin typeface="Arial"/>
              </a:rPr>
              <a:t>Real photos · modelled figures</a:t>
            </a:r>
          </a:p>
        </p:txBody>
      </p:sp>
      <p:sp>
        <p:nvSpPr>
          <p:cNvPr id="4" name="TextBox 3"/>
          <p:cNvSpPr txBox="1"/>
          <p:nvPr/>
        </p:nvSpPr>
        <p:spPr>
          <a:xfrm>
            <a:off x="548640" y="411480"/>
            <a:ext cx="9418320" cy="640080"/>
          </a:xfrm>
          <a:prstGeom prst="rect">
            <a:avLst/>
          </a:prstGeom>
          <a:noFill/>
        </p:spPr>
        <p:txBody>
          <a:bodyPr wrap="square" lIns="0" rIns="0" tIns="0" bIns="0" anchor="t">
            <a:spAutoFit/>
          </a:bodyPr>
          <a:lstStyle/>
          <a:p>
            <a:pPr algn="l"/>
            <a:r>
              <a:rPr sz="3200" b="1" i="0">
                <a:solidFill>
                  <a:srgbClr val="19232D"/>
                </a:solidFill>
                <a:latin typeface="Arial"/>
              </a:rPr>
              <a:t>We followed the food from list to bin</a:t>
            </a:r>
          </a:p>
        </p:txBody>
      </p:sp>
      <p:sp>
        <p:nvSpPr>
          <p:cNvPr id="5" name="TextBox 4"/>
          <p:cNvSpPr txBox="1"/>
          <p:nvPr/>
        </p:nvSpPr>
        <p:spPr>
          <a:xfrm>
            <a:off x="548640" y="1097280"/>
            <a:ext cx="10058400" cy="365760"/>
          </a:xfrm>
          <a:prstGeom prst="rect">
            <a:avLst/>
          </a:prstGeom>
          <a:noFill/>
        </p:spPr>
        <p:txBody>
          <a:bodyPr wrap="square" lIns="0" rIns="0" tIns="0" bIns="0" anchor="t">
            <a:spAutoFit/>
          </a:bodyPr>
          <a:lstStyle/>
          <a:p>
            <a:pPr algn="l"/>
            <a:r>
              <a:rPr sz="1400" b="0" i="0">
                <a:solidFill>
                  <a:srgbClr val="5A6773"/>
                </a:solidFill>
                <a:latin typeface="Arial"/>
              </a:rPr>
              <a:t>5 meals, Sat 26 Sep 07:30 to Sun 27 Sep 12:15. Collection ran at every service.</a:t>
            </a:r>
          </a:p>
        </p:txBody>
      </p:sp>
      <p:sp>
        <p:nvSpPr>
          <p:cNvPr id="6" name="Rounded Rectangle 5"/>
          <p:cNvSpPr/>
          <p:nvPr/>
        </p:nvSpPr>
        <p:spPr>
          <a:xfrm>
            <a:off x="548640" y="1691640"/>
            <a:ext cx="2057400" cy="1920240"/>
          </a:xfrm>
          <a:prstGeom prst="roundRect">
            <a:avLst>
              <a:gd name="adj" fmla="val 6000"/>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874520"/>
            <a:ext cx="384048" cy="384048"/>
          </a:xfrm>
          <a:prstGeom prst="ellipse">
            <a:avLst/>
          </a:prstGeom>
          <a:solidFill>
            <a:srgbClr val="192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8" name="TextBox 7"/>
          <p:cNvSpPr txBox="1"/>
          <p:nvPr/>
        </p:nvSpPr>
        <p:spPr>
          <a:xfrm>
            <a:off x="731520" y="2377440"/>
            <a:ext cx="1691640" cy="365760"/>
          </a:xfrm>
          <a:prstGeom prst="rect">
            <a:avLst/>
          </a:prstGeom>
          <a:noFill/>
        </p:spPr>
        <p:txBody>
          <a:bodyPr wrap="square" lIns="0" rIns="0" tIns="0" bIns="0" anchor="t">
            <a:spAutoFit/>
          </a:bodyPr>
          <a:lstStyle/>
          <a:p>
            <a:pPr algn="l"/>
            <a:r>
              <a:rPr sz="1500" b="1" i="0">
                <a:solidFill>
                  <a:srgbClr val="19232D"/>
                </a:solidFill>
                <a:latin typeface="Arial"/>
              </a:rPr>
              <a:t>Subscription list</a:t>
            </a:r>
          </a:p>
        </p:txBody>
      </p:sp>
      <p:sp>
        <p:nvSpPr>
          <p:cNvPr id="9" name="TextBox 8"/>
          <p:cNvSpPr txBox="1"/>
          <p:nvPr/>
        </p:nvSpPr>
        <p:spPr>
          <a:xfrm>
            <a:off x="731520" y="2715768"/>
            <a:ext cx="1691640" cy="868680"/>
          </a:xfrm>
          <a:prstGeom prst="rect">
            <a:avLst/>
          </a:prstGeom>
          <a:noFill/>
        </p:spPr>
        <p:txBody>
          <a:bodyPr wrap="square" lIns="0" rIns="0" tIns="0" bIns="0" anchor="t">
            <a:spAutoFit/>
          </a:bodyPr>
          <a:lstStyle/>
          <a:p>
            <a:pPr algn="l"/>
            <a:r>
              <a:rPr sz="1150" b="0" i="0">
                <a:solidFill>
                  <a:srgbClr val="5A6773"/>
                </a:solidFill>
                <a:latin typeface="Arial"/>
              </a:rPr>
              <a:t>A per-meal total from the manager. No names.</a:t>
            </a:r>
          </a:p>
        </p:txBody>
      </p:sp>
      <p:sp>
        <p:nvSpPr>
          <p:cNvPr id="10" name="Chevron 9"/>
          <p:cNvSpPr/>
          <p:nvPr/>
        </p:nvSpPr>
        <p:spPr>
          <a:xfrm>
            <a:off x="2670048" y="2560320"/>
            <a:ext cx="118872" cy="201168"/>
          </a:xfrm>
          <a:prstGeom prst="chevron">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52928" y="1691640"/>
            <a:ext cx="2057400" cy="1920240"/>
          </a:xfrm>
          <a:prstGeom prst="roundRect">
            <a:avLst>
              <a:gd name="adj" fmla="val 6000"/>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035808" y="1874520"/>
            <a:ext cx="384048" cy="384048"/>
          </a:xfrm>
          <a:prstGeom prst="ellipse">
            <a:avLst/>
          </a:prstGeom>
          <a:solidFill>
            <a:srgbClr val="192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3" name="TextBox 12"/>
          <p:cNvSpPr txBox="1"/>
          <p:nvPr/>
        </p:nvSpPr>
        <p:spPr>
          <a:xfrm>
            <a:off x="3035808" y="2377440"/>
            <a:ext cx="1691640" cy="365760"/>
          </a:xfrm>
          <a:prstGeom prst="rect">
            <a:avLst/>
          </a:prstGeom>
          <a:noFill/>
        </p:spPr>
        <p:txBody>
          <a:bodyPr wrap="square" lIns="0" rIns="0" tIns="0" bIns="0" anchor="t">
            <a:spAutoFit/>
          </a:bodyPr>
          <a:lstStyle/>
          <a:p>
            <a:pPr algn="l"/>
            <a:r>
              <a:rPr sz="1500" b="1" i="0">
                <a:solidFill>
                  <a:srgbClr val="19232D"/>
                </a:solidFill>
                <a:latin typeface="Arial"/>
              </a:rPr>
              <a:t>Kitchen</a:t>
            </a:r>
          </a:p>
        </p:txBody>
      </p:sp>
      <p:sp>
        <p:nvSpPr>
          <p:cNvPr id="14" name="TextBox 13"/>
          <p:cNvSpPr txBox="1"/>
          <p:nvPr/>
        </p:nvSpPr>
        <p:spPr>
          <a:xfrm>
            <a:off x="3035808" y="2715768"/>
            <a:ext cx="1691640" cy="868680"/>
          </a:xfrm>
          <a:prstGeom prst="rect">
            <a:avLst/>
          </a:prstGeom>
          <a:noFill/>
        </p:spPr>
        <p:txBody>
          <a:bodyPr wrap="square" lIns="0" rIns="0" tIns="0" bIns="0" anchor="t">
            <a:spAutoFit/>
          </a:bodyPr>
          <a:lstStyle/>
          <a:p>
            <a:pPr algn="l"/>
            <a:r>
              <a:rPr sz="1150" b="0" i="0">
                <a:solidFill>
                  <a:srgbClr val="5A6773"/>
                </a:solidFill>
                <a:latin typeface="Arial"/>
              </a:rPr>
              <a:t>Cooked per dish, and what was left in the vessels.</a:t>
            </a:r>
          </a:p>
        </p:txBody>
      </p:sp>
      <p:sp>
        <p:nvSpPr>
          <p:cNvPr id="15" name="Chevron 14"/>
          <p:cNvSpPr/>
          <p:nvPr/>
        </p:nvSpPr>
        <p:spPr>
          <a:xfrm>
            <a:off x="4974336" y="2560320"/>
            <a:ext cx="118872" cy="201168"/>
          </a:xfrm>
          <a:prstGeom prst="chevron">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57216" y="1691640"/>
            <a:ext cx="2057400" cy="1920240"/>
          </a:xfrm>
          <a:prstGeom prst="roundRect">
            <a:avLst>
              <a:gd name="adj" fmla="val 6000"/>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40096" y="1874520"/>
            <a:ext cx="384048" cy="384048"/>
          </a:xfrm>
          <a:prstGeom prst="ellipse">
            <a:avLst/>
          </a:prstGeom>
          <a:solidFill>
            <a:srgbClr val="192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8" name="TextBox 17"/>
          <p:cNvSpPr txBox="1"/>
          <p:nvPr/>
        </p:nvSpPr>
        <p:spPr>
          <a:xfrm>
            <a:off x="5340096" y="2377440"/>
            <a:ext cx="1691640" cy="365760"/>
          </a:xfrm>
          <a:prstGeom prst="rect">
            <a:avLst/>
          </a:prstGeom>
          <a:noFill/>
        </p:spPr>
        <p:txBody>
          <a:bodyPr wrap="square" lIns="0" rIns="0" tIns="0" bIns="0" anchor="t">
            <a:spAutoFit/>
          </a:bodyPr>
          <a:lstStyle/>
          <a:p>
            <a:pPr algn="l"/>
            <a:r>
              <a:rPr sz="1500" b="1" i="0">
                <a:solidFill>
                  <a:srgbClr val="19232D"/>
                </a:solidFill>
                <a:latin typeface="Arial"/>
              </a:rPr>
              <a:t>Entrance</a:t>
            </a:r>
          </a:p>
        </p:txBody>
      </p:sp>
      <p:sp>
        <p:nvSpPr>
          <p:cNvPr id="19" name="TextBox 18"/>
          <p:cNvSpPr txBox="1"/>
          <p:nvPr/>
        </p:nvSpPr>
        <p:spPr>
          <a:xfrm>
            <a:off x="5340096" y="2715768"/>
            <a:ext cx="1691640" cy="868680"/>
          </a:xfrm>
          <a:prstGeom prst="rect">
            <a:avLst/>
          </a:prstGeom>
          <a:noFill/>
        </p:spPr>
        <p:txBody>
          <a:bodyPr wrap="square" lIns="0" rIns="0" tIns="0" bIns="0" anchor="t">
            <a:spAutoFit/>
          </a:bodyPr>
          <a:lstStyle/>
          <a:p>
            <a:pPr algn="l"/>
            <a:r>
              <a:rPr sz="1150" b="0" i="0">
                <a:solidFill>
                  <a:srgbClr val="5A6773"/>
                </a:solidFill>
                <a:latin typeface="Arial"/>
              </a:rPr>
              <a:t>Diners tallied every 15 minutes.</a:t>
            </a:r>
          </a:p>
        </p:txBody>
      </p:sp>
      <p:sp>
        <p:nvSpPr>
          <p:cNvPr id="20" name="Chevron 19"/>
          <p:cNvSpPr/>
          <p:nvPr/>
        </p:nvSpPr>
        <p:spPr>
          <a:xfrm>
            <a:off x="7278624" y="2560320"/>
            <a:ext cx="118872" cy="201168"/>
          </a:xfrm>
          <a:prstGeom prst="chevron">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61504" y="1691640"/>
            <a:ext cx="2057400" cy="1920240"/>
          </a:xfrm>
          <a:prstGeom prst="roundRect">
            <a:avLst>
              <a:gd name="adj" fmla="val 6000"/>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44383" y="1874520"/>
            <a:ext cx="384048" cy="384048"/>
          </a:xfrm>
          <a:prstGeom prst="ellipse">
            <a:avLst/>
          </a:prstGeom>
          <a:solidFill>
            <a:srgbClr val="192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4</a:t>
            </a:r>
          </a:p>
        </p:txBody>
      </p:sp>
      <p:sp>
        <p:nvSpPr>
          <p:cNvPr id="23" name="TextBox 22"/>
          <p:cNvSpPr txBox="1"/>
          <p:nvPr/>
        </p:nvSpPr>
        <p:spPr>
          <a:xfrm>
            <a:off x="7644383" y="2377440"/>
            <a:ext cx="1691640" cy="365760"/>
          </a:xfrm>
          <a:prstGeom prst="rect">
            <a:avLst/>
          </a:prstGeom>
          <a:noFill/>
        </p:spPr>
        <p:txBody>
          <a:bodyPr wrap="square" lIns="0" rIns="0" tIns="0" bIns="0" anchor="t">
            <a:spAutoFit/>
          </a:bodyPr>
          <a:lstStyle/>
          <a:p>
            <a:pPr algn="l"/>
            <a:r>
              <a:rPr sz="1500" b="1" i="0">
                <a:solidFill>
                  <a:srgbClr val="19232D"/>
                </a:solidFill>
                <a:latin typeface="Arial"/>
              </a:rPr>
              <a:t>Return counter</a:t>
            </a:r>
          </a:p>
        </p:txBody>
      </p:sp>
      <p:sp>
        <p:nvSpPr>
          <p:cNvPr id="24" name="TextBox 23"/>
          <p:cNvSpPr txBox="1"/>
          <p:nvPr/>
        </p:nvSpPr>
        <p:spPr>
          <a:xfrm>
            <a:off x="7644383" y="2715768"/>
            <a:ext cx="1691640" cy="868680"/>
          </a:xfrm>
          <a:prstGeom prst="rect">
            <a:avLst/>
          </a:prstGeom>
          <a:noFill/>
        </p:spPr>
        <p:txBody>
          <a:bodyPr wrap="square" lIns="0" rIns="0" tIns="0" bIns="0" anchor="t">
            <a:spAutoFit/>
          </a:bodyPr>
          <a:lstStyle/>
          <a:p>
            <a:pPr algn="l"/>
            <a:r>
              <a:rPr sz="1150" b="0" i="0">
                <a:solidFill>
                  <a:srgbClr val="5A6773"/>
                </a:solidFill>
                <a:latin typeface="Arial"/>
              </a:rPr>
              <a:t>Phone over the trays. 58 plates kept, 4 auto-deleted.</a:t>
            </a:r>
          </a:p>
        </p:txBody>
      </p:sp>
      <p:sp>
        <p:nvSpPr>
          <p:cNvPr id="25" name="Chevron 24"/>
          <p:cNvSpPr/>
          <p:nvPr/>
        </p:nvSpPr>
        <p:spPr>
          <a:xfrm>
            <a:off x="9582912" y="2560320"/>
            <a:ext cx="118872" cy="201168"/>
          </a:xfrm>
          <a:prstGeom prst="chevron">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765792" y="1691640"/>
            <a:ext cx="2057400" cy="1920240"/>
          </a:xfrm>
          <a:prstGeom prst="roundRect">
            <a:avLst>
              <a:gd name="adj" fmla="val 6000"/>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48672" y="1874520"/>
            <a:ext cx="384048" cy="384048"/>
          </a:xfrm>
          <a:prstGeom prst="ellipse">
            <a:avLst/>
          </a:prstGeom>
          <a:solidFill>
            <a:srgbClr val="1923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5</a:t>
            </a:r>
          </a:p>
        </p:txBody>
      </p:sp>
      <p:sp>
        <p:nvSpPr>
          <p:cNvPr id="28" name="TextBox 27"/>
          <p:cNvSpPr txBox="1"/>
          <p:nvPr/>
        </p:nvSpPr>
        <p:spPr>
          <a:xfrm>
            <a:off x="9948672" y="2377440"/>
            <a:ext cx="1691640" cy="365760"/>
          </a:xfrm>
          <a:prstGeom prst="rect">
            <a:avLst/>
          </a:prstGeom>
          <a:noFill/>
        </p:spPr>
        <p:txBody>
          <a:bodyPr wrap="square" lIns="0" rIns="0" tIns="0" bIns="0" anchor="t">
            <a:spAutoFit/>
          </a:bodyPr>
          <a:lstStyle/>
          <a:p>
            <a:pPr algn="l"/>
            <a:r>
              <a:rPr sz="1500" b="1" i="0">
                <a:solidFill>
                  <a:srgbClr val="19232D"/>
                </a:solidFill>
                <a:latin typeface="Arial"/>
              </a:rPr>
              <a:t>Scraping bin</a:t>
            </a:r>
          </a:p>
        </p:txBody>
      </p:sp>
      <p:sp>
        <p:nvSpPr>
          <p:cNvPr id="29" name="TextBox 28"/>
          <p:cNvSpPr txBox="1"/>
          <p:nvPr/>
        </p:nvSpPr>
        <p:spPr>
          <a:xfrm>
            <a:off x="9948672" y="2715768"/>
            <a:ext cx="1691640" cy="868680"/>
          </a:xfrm>
          <a:prstGeom prst="rect">
            <a:avLst/>
          </a:prstGeom>
          <a:noFill/>
        </p:spPr>
        <p:txBody>
          <a:bodyPr wrap="square" lIns="0" rIns="0" tIns="0" bIns="0" anchor="t">
            <a:spAutoFit/>
          </a:bodyPr>
          <a:lstStyle/>
          <a:p>
            <a:pPr algn="l"/>
            <a:r>
              <a:rPr sz="1150" b="0" i="0">
                <a:solidFill>
                  <a:srgbClr val="5A6773"/>
                </a:solidFill>
                <a:latin typeface="Arial"/>
              </a:rPr>
              <a:t>Weighed after every meal.</a:t>
            </a:r>
          </a:p>
        </p:txBody>
      </p:sp>
      <p:sp>
        <p:nvSpPr>
          <p:cNvPr id="30" name="TextBox 29"/>
          <p:cNvSpPr txBox="1"/>
          <p:nvPr/>
        </p:nvSpPr>
        <p:spPr>
          <a:xfrm>
            <a:off x="548640" y="3931920"/>
            <a:ext cx="5486400" cy="365760"/>
          </a:xfrm>
          <a:prstGeom prst="rect">
            <a:avLst/>
          </a:prstGeom>
          <a:noFill/>
        </p:spPr>
        <p:txBody>
          <a:bodyPr wrap="square" lIns="0" rIns="0" tIns="0" bIns="0" anchor="t">
            <a:spAutoFit/>
          </a:bodyPr>
          <a:lstStyle/>
          <a:p>
            <a:pPr algn="l"/>
            <a:r>
              <a:rPr sz="2000" b="1" i="0">
                <a:solidFill>
                  <a:srgbClr val="19232D"/>
                </a:solidFill>
                <a:latin typeface="Arial"/>
              </a:rPr>
              <a:t>What we built</a:t>
            </a:r>
          </a:p>
        </p:txBody>
      </p:sp>
      <p:sp>
        <p:nvSpPr>
          <p:cNvPr id="31" name="Rounded Rectangle 30"/>
          <p:cNvSpPr/>
          <p:nvPr/>
        </p:nvSpPr>
        <p:spPr>
          <a:xfrm>
            <a:off x="548640" y="4434840"/>
            <a:ext cx="3515258" cy="1691640"/>
          </a:xfrm>
          <a:prstGeom prst="roundRect">
            <a:avLst>
              <a:gd name="adj" fmla="val 6000"/>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77240" y="4663440"/>
            <a:ext cx="182880" cy="182880"/>
          </a:xfrm>
          <a:prstGeom prst="ellipse">
            <a:avLst/>
          </a:prstGeom>
          <a:solidFill>
            <a:srgbClr val="B3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590288"/>
            <a:ext cx="2783738" cy="329184"/>
          </a:xfrm>
          <a:prstGeom prst="rect">
            <a:avLst/>
          </a:prstGeom>
          <a:noFill/>
        </p:spPr>
        <p:txBody>
          <a:bodyPr wrap="square" lIns="0" rIns="0" tIns="0" bIns="0" anchor="ctr">
            <a:spAutoFit/>
          </a:bodyPr>
          <a:lstStyle/>
          <a:p>
            <a:pPr algn="l"/>
            <a:r>
              <a:rPr sz="1500" b="1" i="0">
                <a:solidFill>
                  <a:srgbClr val="19232D"/>
                </a:solidFill>
                <a:latin typeface="Arial"/>
              </a:rPr>
              <a:t>Waste split</a:t>
            </a:r>
          </a:p>
        </p:txBody>
      </p:sp>
      <p:sp>
        <p:nvSpPr>
          <p:cNvPr id="34" name="TextBox 33"/>
          <p:cNvSpPr txBox="1"/>
          <p:nvPr/>
        </p:nvSpPr>
        <p:spPr>
          <a:xfrm>
            <a:off x="777240" y="4983480"/>
            <a:ext cx="3058058" cy="1097280"/>
          </a:xfrm>
          <a:prstGeom prst="rect">
            <a:avLst/>
          </a:prstGeom>
          <a:noFill/>
        </p:spPr>
        <p:txBody>
          <a:bodyPr wrap="square" lIns="0" rIns="0" tIns="0" bIns="0" anchor="t">
            <a:spAutoFit/>
          </a:bodyPr>
          <a:lstStyle/>
          <a:p>
            <a:pPr algn="l"/>
            <a:r>
              <a:rPr sz="1200" b="0" i="0">
                <a:solidFill>
                  <a:srgbClr val="5A6773"/>
                </a:solidFill>
                <a:latin typeface="Arial"/>
              </a:rPr>
              <a:t>Leftovers divided into food cooked for absent subscribers, other overproduction, and what came back on plates.</a:t>
            </a:r>
          </a:p>
        </p:txBody>
      </p:sp>
      <p:sp>
        <p:nvSpPr>
          <p:cNvPr id="35" name="Rounded Rectangle 34"/>
          <p:cNvSpPr/>
          <p:nvPr/>
        </p:nvSpPr>
        <p:spPr>
          <a:xfrm>
            <a:off x="4338218" y="4434840"/>
            <a:ext cx="3515258" cy="1691640"/>
          </a:xfrm>
          <a:prstGeom prst="roundRect">
            <a:avLst>
              <a:gd name="adj" fmla="val 6000"/>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566818" y="4663440"/>
            <a:ext cx="182880" cy="182880"/>
          </a:xfrm>
          <a:prstGeom prst="ellipse">
            <a:avLst/>
          </a:prstGeom>
          <a:solidFill>
            <a:srgbClr val="6E6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41138" y="4590288"/>
            <a:ext cx="2783738" cy="329184"/>
          </a:xfrm>
          <a:prstGeom prst="rect">
            <a:avLst/>
          </a:prstGeom>
          <a:noFill/>
        </p:spPr>
        <p:txBody>
          <a:bodyPr wrap="square" lIns="0" rIns="0" tIns="0" bIns="0" anchor="ctr">
            <a:spAutoFit/>
          </a:bodyPr>
          <a:lstStyle/>
          <a:p>
            <a:pPr algn="l"/>
            <a:r>
              <a:rPr sz="1500" b="1" i="0">
                <a:solidFill>
                  <a:srgbClr val="19232D"/>
                </a:solidFill>
                <a:latin typeface="Arial"/>
              </a:rPr>
              <a:t>Plate reader</a:t>
            </a:r>
          </a:p>
        </p:txBody>
      </p:sp>
      <p:sp>
        <p:nvSpPr>
          <p:cNvPr id="38" name="TextBox 37"/>
          <p:cNvSpPr txBox="1"/>
          <p:nvPr/>
        </p:nvSpPr>
        <p:spPr>
          <a:xfrm>
            <a:off x="4566818" y="4983480"/>
            <a:ext cx="3058058" cy="1097280"/>
          </a:xfrm>
          <a:prstGeom prst="rect">
            <a:avLst/>
          </a:prstGeom>
          <a:noFill/>
        </p:spPr>
        <p:txBody>
          <a:bodyPr wrap="square" lIns="0" rIns="0" tIns="0" bIns="0" anchor="t">
            <a:spAutoFit/>
          </a:bodyPr>
          <a:lstStyle/>
          <a:p>
            <a:pPr algn="l"/>
            <a:r>
              <a:rPr sz="1200" b="0" i="0">
                <a:solidFill>
                  <a:srgbClr val="5A6773"/>
                </a:solidFill>
                <a:latin typeface="Arial"/>
              </a:rPr>
              <a:t>A vision-language model reads how much of each dish is left. Checked against plates labelled by hand.</a:t>
            </a:r>
          </a:p>
        </p:txBody>
      </p:sp>
      <p:sp>
        <p:nvSpPr>
          <p:cNvPr id="39" name="Rounded Rectangle 38"/>
          <p:cNvSpPr/>
          <p:nvPr/>
        </p:nvSpPr>
        <p:spPr>
          <a:xfrm>
            <a:off x="8127796" y="4434840"/>
            <a:ext cx="3515258" cy="1691640"/>
          </a:xfrm>
          <a:prstGeom prst="roundRect">
            <a:avLst>
              <a:gd name="adj" fmla="val 6000"/>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356396" y="4663440"/>
            <a:ext cx="182880" cy="182880"/>
          </a:xfrm>
          <a:prstGeom prst="ellipse">
            <a:avLst/>
          </a:prstGeom>
          <a:solidFill>
            <a:srgbClr val="D99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30716" y="4590288"/>
            <a:ext cx="2783738" cy="329184"/>
          </a:xfrm>
          <a:prstGeom prst="rect">
            <a:avLst/>
          </a:prstGeom>
          <a:noFill/>
        </p:spPr>
        <p:txBody>
          <a:bodyPr wrap="square" lIns="0" rIns="0" tIns="0" bIns="0" anchor="ctr">
            <a:spAutoFit/>
          </a:bodyPr>
          <a:lstStyle/>
          <a:p>
            <a:pPr algn="l"/>
            <a:r>
              <a:rPr sz="1500" b="1" i="0">
                <a:solidFill>
                  <a:srgbClr val="19232D"/>
                </a:solidFill>
                <a:latin typeface="Arial"/>
              </a:rPr>
              <a:t>Sealed forecast</a:t>
            </a:r>
          </a:p>
        </p:txBody>
      </p:sp>
      <p:sp>
        <p:nvSpPr>
          <p:cNvPr id="42" name="TextBox 41"/>
          <p:cNvSpPr txBox="1"/>
          <p:nvPr/>
        </p:nvSpPr>
        <p:spPr>
          <a:xfrm>
            <a:off x="8356396" y="4983480"/>
            <a:ext cx="3058058" cy="1097280"/>
          </a:xfrm>
          <a:prstGeom prst="rect">
            <a:avLst/>
          </a:prstGeom>
          <a:noFill/>
        </p:spPr>
        <p:txBody>
          <a:bodyPr wrap="square" lIns="0" rIns="0" tIns="0" bIns="0" anchor="t">
            <a:spAutoFit/>
          </a:bodyPr>
          <a:lstStyle/>
          <a:p>
            <a:pPr algn="l"/>
            <a:r>
              <a:rPr sz="1200" b="0" i="0">
                <a:solidFill>
                  <a:srgbClr val="5A6773"/>
                </a:solidFill>
                <a:latin typeface="Arial"/>
              </a:rPr>
              <a:t>Tomorrow's turnout predicted the night before, then hashed so it cannot be edited afterwards.</a:t>
            </a:r>
          </a:p>
        </p:txBody>
      </p:sp>
      <p:sp>
        <p:nvSpPr>
          <p:cNvPr id="43" name="TextBox 42"/>
          <p:cNvSpPr txBox="1"/>
          <p:nvPr/>
        </p:nvSpPr>
        <p:spPr>
          <a:xfrm>
            <a:off x="548640" y="6309360"/>
            <a:ext cx="10972800" cy="274320"/>
          </a:xfrm>
          <a:prstGeom prst="rect">
            <a:avLst/>
          </a:prstGeom>
          <a:noFill/>
        </p:spPr>
        <p:txBody>
          <a:bodyPr wrap="square" lIns="0" rIns="0" tIns="0" bIns="0" anchor="t">
            <a:spAutoFit/>
          </a:bodyPr>
          <a:lstStyle/>
          <a:p>
            <a:pPr algn="l"/>
            <a:r>
              <a:rPr sz="1150" b="0" i="0">
                <a:solidFill>
                  <a:srgbClr val="5A6773"/>
                </a:solidFill>
                <a:latin typeface="Arial"/>
              </a:rPr>
              <a:t>687 rows across 15 tables, each row carrying where it came from.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4E8EA"/>
        </a:solidFill>
        <a:effectLst/>
      </p:bgPr>
    </p:bg>
    <p:spTree>
      <p:nvGrpSpPr>
        <p:cNvPr id="1" name=""/>
        <p:cNvGrpSpPr/>
        <p:nvPr/>
      </p:nvGrpSpPr>
      <p:grpSpPr/>
      <p:sp>
        <p:nvSpPr>
          <p:cNvPr id="2" name="Rounded Rectangle 1"/>
          <p:cNvSpPr/>
          <p:nvPr/>
        </p:nvSpPr>
        <p:spPr>
          <a:xfrm>
            <a:off x="8991295" y="320040"/>
            <a:ext cx="2743200" cy="347472"/>
          </a:xfrm>
          <a:prstGeom prst="roundRect">
            <a:avLst>
              <a:gd name="adj" fmla="val 30000"/>
            </a:avLst>
          </a:prstGeom>
          <a:solidFill>
            <a:srgbClr val="B3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91295" y="320040"/>
            <a:ext cx="2743200" cy="347472"/>
          </a:xfrm>
          <a:prstGeom prst="rect">
            <a:avLst/>
          </a:prstGeom>
          <a:noFill/>
        </p:spPr>
        <p:txBody>
          <a:bodyPr wrap="square" lIns="0" rIns="0" tIns="0" bIns="0" anchor="ctr">
            <a:spAutoFit/>
          </a:bodyPr>
          <a:lstStyle/>
          <a:p>
            <a:pPr algn="ctr"/>
            <a:r>
              <a:rPr sz="1200" b="1" i="0">
                <a:solidFill>
                  <a:srgbClr val="FFFFFF"/>
                </a:solidFill>
                <a:latin typeface="Arial"/>
              </a:rPr>
              <a:t>Real photos · modelled figures</a:t>
            </a:r>
          </a:p>
        </p:txBody>
      </p:sp>
      <p:sp>
        <p:nvSpPr>
          <p:cNvPr id="4" name="TextBox 3"/>
          <p:cNvSpPr txBox="1"/>
          <p:nvPr/>
        </p:nvSpPr>
        <p:spPr>
          <a:xfrm>
            <a:off x="548640" y="411480"/>
            <a:ext cx="9509760" cy="731520"/>
          </a:xfrm>
          <a:prstGeom prst="rect">
            <a:avLst/>
          </a:prstGeom>
          <a:noFill/>
        </p:spPr>
        <p:txBody>
          <a:bodyPr wrap="square" lIns="0" rIns="0" tIns="0" bIns="0" anchor="t">
            <a:spAutoFit/>
          </a:bodyPr>
          <a:lstStyle/>
          <a:p>
            <a:pPr algn="l"/>
            <a:r>
              <a:rPr sz="3200" b="1" i="0">
                <a:solidFill>
                  <a:srgbClr val="19232D"/>
                </a:solidFill>
                <a:latin typeface="Arial"/>
              </a:rPr>
              <a:t>5 meals, 394 kg wasted, about ₹29,298</a:t>
            </a:r>
          </a:p>
        </p:txBody>
      </p:sp>
      <p:sp>
        <p:nvSpPr>
          <p:cNvPr id="5" name="TextBox 4"/>
          <p:cNvSpPr txBox="1"/>
          <p:nvPr/>
        </p:nvSpPr>
        <p:spPr>
          <a:xfrm>
            <a:off x="548640" y="1097280"/>
            <a:ext cx="9509760" cy="365760"/>
          </a:xfrm>
          <a:prstGeom prst="rect">
            <a:avLst/>
          </a:prstGeom>
          <a:noFill/>
        </p:spPr>
        <p:txBody>
          <a:bodyPr wrap="square" lIns="0" rIns="0" tIns="0" bIns="0" anchor="t">
            <a:spAutoFit/>
          </a:bodyPr>
          <a:lstStyle/>
          <a:p>
            <a:pPr algn="l"/>
            <a:r>
              <a:rPr sz="1600" b="0" i="0">
                <a:solidFill>
                  <a:srgbClr val="5A6773"/>
                </a:solidFill>
                <a:latin typeface="Arial"/>
              </a:rPr>
              <a:t>58% was cooked for subscribers who never came. 20% came back on plates.</a:t>
            </a:r>
          </a:p>
        </p:txBody>
      </p:sp>
      <p:sp>
        <p:nvSpPr>
          <p:cNvPr id="6" name="Rounded Rectangle 5"/>
          <p:cNvSpPr/>
          <p:nvPr/>
        </p:nvSpPr>
        <p:spPr>
          <a:xfrm>
            <a:off x="548640" y="1691640"/>
            <a:ext cx="6675120" cy="3840480"/>
          </a:xfrm>
          <a:prstGeom prst="roundRect">
            <a:avLst>
              <a:gd name="adj" fmla="val 2500"/>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31520" y="1828800"/>
          <a:ext cx="6309360" cy="3611880"/>
        </p:xfrm>
        <a:graphic>
          <a:graphicData uri="http://schemas.openxmlformats.org/drawingml/2006/chart">
            <c:chart xmlns:c="http://schemas.openxmlformats.org/drawingml/2006/chart" r:id="rId2"/>
          </a:graphicData>
        </a:graphic>
      </p:graphicFrame>
      <p:sp>
        <p:nvSpPr>
          <p:cNvPr id="8" name="Rounded Rectangle 7"/>
          <p:cNvSpPr/>
          <p:nvPr/>
        </p:nvSpPr>
        <p:spPr>
          <a:xfrm>
            <a:off x="7498079" y="1691640"/>
            <a:ext cx="4142232" cy="1828800"/>
          </a:xfrm>
          <a:prstGeom prst="roundRect">
            <a:avLst>
              <a:gd name="adj" fmla="val 5000"/>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1828800"/>
            <a:ext cx="3593592" cy="320040"/>
          </a:xfrm>
          <a:prstGeom prst="rect">
            <a:avLst/>
          </a:prstGeom>
          <a:noFill/>
        </p:spPr>
        <p:txBody>
          <a:bodyPr wrap="square" lIns="0" rIns="0" tIns="0" bIns="0" anchor="t">
            <a:spAutoFit/>
          </a:bodyPr>
          <a:lstStyle/>
          <a:p>
            <a:pPr algn="l"/>
            <a:r>
              <a:rPr sz="1300" b="1" i="0">
                <a:solidFill>
                  <a:srgbClr val="5A6773"/>
                </a:solidFill>
                <a:latin typeface="Arial"/>
              </a:rPr>
              <a:t>Sealed forecasts, 2 meals</a:t>
            </a:r>
          </a:p>
        </p:txBody>
      </p:sp>
      <p:sp>
        <p:nvSpPr>
          <p:cNvPr id="10" name="TextBox 9"/>
          <p:cNvSpPr txBox="1"/>
          <p:nvPr/>
        </p:nvSpPr>
        <p:spPr>
          <a:xfrm>
            <a:off x="7772400" y="2148840"/>
            <a:ext cx="3593592" cy="731520"/>
          </a:xfrm>
          <a:prstGeom prst="rect">
            <a:avLst/>
          </a:prstGeom>
          <a:noFill/>
        </p:spPr>
        <p:txBody>
          <a:bodyPr wrap="square" lIns="0" rIns="0" tIns="0" bIns="0" anchor="t">
            <a:spAutoFit/>
          </a:bodyPr>
          <a:lstStyle/>
          <a:p>
            <a:pPr algn="l"/>
            <a:r>
              <a:rPr sz="4400" b="1" i="0">
                <a:solidFill>
                  <a:srgbClr val="D99A22"/>
                </a:solidFill>
                <a:latin typeface="Arial"/>
              </a:rPr>
              <a:t>17</a:t>
            </a:r>
            <a:r>
              <a:rPr sz="1500" b="0" i="0">
                <a:solidFill>
                  <a:srgbClr val="19232D"/>
                </a:solidFill>
                <a:latin typeface="Arial"/>
              </a:rPr>
              <a:t>  diners off on average</a:t>
            </a:r>
          </a:p>
        </p:txBody>
      </p:sp>
      <p:sp>
        <p:nvSpPr>
          <p:cNvPr id="11" name="TextBox 10"/>
          <p:cNvSpPr txBox="1"/>
          <p:nvPr/>
        </p:nvSpPr>
        <p:spPr>
          <a:xfrm>
            <a:off x="7772400" y="2880360"/>
            <a:ext cx="3593592" cy="594360"/>
          </a:xfrm>
          <a:prstGeom prst="rect">
            <a:avLst/>
          </a:prstGeom>
          <a:noFill/>
        </p:spPr>
        <p:txBody>
          <a:bodyPr wrap="square" lIns="0" rIns="0" tIns="0" bIns="0" anchor="t">
            <a:spAutoFit/>
          </a:bodyPr>
          <a:lstStyle/>
          <a:p>
            <a:pPr algn="l"/>
            <a:r>
              <a:rPr sz="1200" b="0" i="0">
                <a:solidFill>
                  <a:srgbClr val="5A6773"/>
                </a:solidFill>
                <a:latin typeface="Arial"/>
              </a:rPr>
              <a:t>Cooking for every subscriber: 98 off. 2 of 2 actual counts fell inside our range.</a:t>
            </a:r>
          </a:p>
        </p:txBody>
      </p:sp>
      <p:sp>
        <p:nvSpPr>
          <p:cNvPr id="12" name="Rounded Rectangle 11"/>
          <p:cNvSpPr/>
          <p:nvPr/>
        </p:nvSpPr>
        <p:spPr>
          <a:xfrm>
            <a:off x="7498079" y="3703320"/>
            <a:ext cx="4142232" cy="1828800"/>
          </a:xfrm>
          <a:prstGeom prst="roundRect">
            <a:avLst>
              <a:gd name="adj" fmla="val 5000"/>
            </a:avLst>
          </a:prstGeom>
          <a:solidFill>
            <a:srgbClr val="192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840480"/>
            <a:ext cx="3593592" cy="320040"/>
          </a:xfrm>
          <a:prstGeom prst="rect">
            <a:avLst/>
          </a:prstGeom>
          <a:noFill/>
        </p:spPr>
        <p:txBody>
          <a:bodyPr wrap="square" lIns="0" rIns="0" tIns="0" bIns="0" anchor="t">
            <a:spAutoFit/>
          </a:bodyPr>
          <a:lstStyle/>
          <a:p>
            <a:pPr algn="l"/>
            <a:r>
              <a:rPr sz="1300" b="1" i="0">
                <a:solidFill>
                  <a:srgbClr val="D99A22"/>
                </a:solidFill>
                <a:latin typeface="Arial"/>
              </a:rPr>
              <a:t>What changes for the manager</a:t>
            </a:r>
          </a:p>
        </p:txBody>
      </p:sp>
      <p:sp>
        <p:nvSpPr>
          <p:cNvPr id="14" name="TextBox 13"/>
          <p:cNvSpPr txBox="1"/>
          <p:nvPr/>
        </p:nvSpPr>
        <p:spPr>
          <a:xfrm>
            <a:off x="7772400" y="4160520"/>
            <a:ext cx="3593592" cy="1325880"/>
          </a:xfrm>
          <a:prstGeom prst="rect">
            <a:avLst/>
          </a:prstGeom>
          <a:noFill/>
        </p:spPr>
        <p:txBody>
          <a:bodyPr wrap="square" lIns="0" rIns="0" tIns="0" bIns="0" anchor="t">
            <a:spAutoFit/>
          </a:bodyPr>
          <a:lstStyle/>
          <a:p>
            <a:pPr algn="l"/>
            <a:r>
              <a:rPr sz="1350" b="0" i="0">
                <a:solidFill>
                  <a:srgbClr val="FFFFFF"/>
                </a:solidFill>
                <a:latin typeface="Arial"/>
              </a:rPr>
              <a:t>Cook to the sealed forecast, not the list. On these two meals it did not beat what the kitchen cooked: the lunch forecast came in low. Separately, egg comes back on plates more than anything else served.</a:t>
            </a:r>
          </a:p>
        </p:txBody>
      </p:sp>
      <p:sp>
        <p:nvSpPr>
          <p:cNvPr id="15" name="TextBox 14"/>
          <p:cNvSpPr txBox="1"/>
          <p:nvPr/>
        </p:nvSpPr>
        <p:spPr>
          <a:xfrm>
            <a:off x="548640" y="5715000"/>
            <a:ext cx="11064240" cy="457200"/>
          </a:xfrm>
          <a:prstGeom prst="rect">
            <a:avLst/>
          </a:prstGeom>
          <a:noFill/>
        </p:spPr>
        <p:txBody>
          <a:bodyPr wrap="square" lIns="0" rIns="0" tIns="0" bIns="0" anchor="t">
            <a:spAutoFit/>
          </a:bodyPr>
          <a:lstStyle/>
          <a:p>
            <a:pPr algn="l"/>
            <a:r>
              <a:rPr sz="1150" b="0" i="0">
                <a:solidFill>
                  <a:srgbClr val="5A6773"/>
                </a:solidFill>
                <a:latin typeface="Arial"/>
              </a:rPr>
              <a:t>What the data can't tell you: 5 meals in one mess, so this is a snapshot. Per-dish plate waste is inferred from photos. The ghost split assumes the kitchen cooks for subscribers; the implied headcount supports that.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